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2" r:id="rId4"/>
    <p:sldId id="263" r:id="rId5"/>
    <p:sldId id="260" r:id="rId6"/>
    <p:sldId id="268" r:id="rId7"/>
    <p:sldId id="261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8/1/22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3304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66800" y="1252025"/>
            <a:ext cx="10058400" cy="3671667"/>
          </a:xfrm>
          <a:prstGeom prst="roundRect">
            <a:avLst/>
          </a:prstGeom>
          <a:solidFill>
            <a:schemeClr val="accent1">
              <a:alpha val="7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0"/>
            <a:ext cx="10058400" cy="356616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JIF Vulnerability and Lapse Rates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673426"/>
            <a:ext cx="10058400" cy="114300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2"/>
                </a:solidFill>
              </a:rPr>
              <a:t>By </a:t>
            </a:r>
            <a:r>
              <a:rPr lang="en-US" b="1" dirty="0" err="1" smtClean="0">
                <a:solidFill>
                  <a:schemeClr val="bg2"/>
                </a:solidFill>
              </a:rPr>
              <a:t>jonny</a:t>
            </a:r>
            <a:r>
              <a:rPr lang="en-US" b="1" dirty="0" smtClean="0">
                <a:solidFill>
                  <a:schemeClr val="bg2"/>
                </a:solidFill>
              </a:rPr>
              <a:t>, tory, </a:t>
            </a:r>
            <a:r>
              <a:rPr lang="en-US" b="1" dirty="0" err="1" smtClean="0">
                <a:solidFill>
                  <a:schemeClr val="bg2"/>
                </a:solidFill>
              </a:rPr>
              <a:t>emma</a:t>
            </a:r>
            <a:r>
              <a:rPr lang="en-US" b="1" dirty="0" smtClean="0">
                <a:solidFill>
                  <a:schemeClr val="bg2"/>
                </a:solidFill>
              </a:rPr>
              <a:t>, </a:t>
            </a:r>
            <a:r>
              <a:rPr lang="en-US" b="1" dirty="0" err="1" smtClean="0">
                <a:solidFill>
                  <a:schemeClr val="bg2"/>
                </a:solidFill>
              </a:rPr>
              <a:t>ali</a:t>
            </a:r>
            <a:r>
              <a:rPr lang="en-US" b="1" dirty="0" smtClean="0">
                <a:solidFill>
                  <a:schemeClr val="bg2"/>
                </a:solidFill>
              </a:rPr>
              <a:t>, </a:t>
            </a:r>
            <a:r>
              <a:rPr lang="en-US" b="1" dirty="0" err="1" smtClean="0">
                <a:solidFill>
                  <a:schemeClr val="bg2"/>
                </a:solidFill>
              </a:rPr>
              <a:t>xander</a:t>
            </a:r>
            <a:r>
              <a:rPr lang="en-US" b="1" dirty="0" smtClean="0">
                <a:solidFill>
                  <a:schemeClr val="bg2"/>
                </a:solidFill>
              </a:rPr>
              <a:t>, and </a:t>
            </a:r>
            <a:r>
              <a:rPr lang="en-US" b="1" dirty="0" err="1" smtClean="0">
                <a:solidFill>
                  <a:schemeClr val="bg2"/>
                </a:solidFill>
              </a:rPr>
              <a:t>lili</a:t>
            </a:r>
            <a:endParaRPr lang="en-US" b="1" dirty="0" smtClean="0">
              <a:solidFill>
                <a:schemeClr val="bg2"/>
              </a:solidFill>
            </a:endParaRPr>
          </a:p>
          <a:p>
            <a:pPr algn="ctr"/>
            <a:r>
              <a:rPr lang="en-US" b="1" dirty="0" smtClean="0">
                <a:solidFill>
                  <a:schemeClr val="bg2"/>
                </a:solidFill>
              </a:rPr>
              <a:t>Advised by Jess and </a:t>
            </a:r>
            <a:r>
              <a:rPr lang="en-US" b="1" dirty="0" err="1" smtClean="0">
                <a:solidFill>
                  <a:schemeClr val="bg2"/>
                </a:solidFill>
              </a:rPr>
              <a:t>isaac</a:t>
            </a: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01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a Lapse Rate?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0252" y="0"/>
            <a:ext cx="8121748" cy="685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0" y="3338812"/>
                <a:ext cx="3363238" cy="2068489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𝑙𝑎𝑝𝑠𝑒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dirty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∆ 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𝑡𝑒𝑚𝑝𝑒𝑟𝑎𝑡𝑢𝑟𝑒</m:t>
                          </m:r>
                        </m:num>
                        <m:den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∆ 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𝑒𝑙𝑒𝑣𝑎𝑡𝑖𝑜𝑛</m:t>
                          </m:r>
                        </m:den>
                      </m:f>
                    </m:oMath>
                  </m:oMathPara>
                </a14:m>
                <a:endParaRPr lang="en-US" sz="180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0" y="3338812"/>
                <a:ext cx="3363238" cy="2068489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5168720" y="1088419"/>
            <a:ext cx="5924811" cy="4500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5315" y="1971853"/>
            <a:ext cx="4864415" cy="3236048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>
            <a:off x="6440357" y="1664337"/>
            <a:ext cx="230098" cy="32864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9264140" y="1672225"/>
            <a:ext cx="230098" cy="32864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074063" y="1219128"/>
            <a:ext cx="1661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Large Lapse Rate (9.8 °C/km)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8798589" y="1210010"/>
            <a:ext cx="151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Small Lapse Rate (4 </a:t>
            </a:r>
            <a:r>
              <a:rPr lang="en-US" sz="1400" dirty="0"/>
              <a:t>° </a:t>
            </a:r>
            <a:r>
              <a:rPr lang="en-US" sz="1400" dirty="0" smtClean="0"/>
              <a:t>C/km)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4836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0"/>
            <a:ext cx="9144000" cy="64760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43092" cy="459078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78757"/>
            <a:ext cx="4263025" cy="319726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9524" y="4315216"/>
            <a:ext cx="1642476" cy="218996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66800" y="1995779"/>
            <a:ext cx="10058400" cy="1450757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Data Collection: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667998" y="1737360"/>
            <a:ext cx="1524001" cy="257785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2877" y="4315216"/>
            <a:ext cx="2766647" cy="218996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3151" y="-29157"/>
            <a:ext cx="2808849" cy="210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6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Findings: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963" y="2193886"/>
            <a:ext cx="4938712" cy="3327479"/>
          </a:xfr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425852" y="2597297"/>
            <a:ext cx="4729828" cy="2125016"/>
          </a:xfrm>
        </p:spPr>
        <p:txBody>
          <a:bodyPr/>
          <a:lstStyle/>
          <a:p>
            <a:r>
              <a:rPr lang="en-US" dirty="0" smtClean="0"/>
              <a:t>All sensors active from July 21</a:t>
            </a:r>
            <a:r>
              <a:rPr lang="en-US" baseline="30000" dirty="0" smtClean="0"/>
              <a:t>st</a:t>
            </a:r>
            <a:r>
              <a:rPr lang="en-US" dirty="0" smtClean="0"/>
              <a:t>-July 23rd</a:t>
            </a:r>
          </a:p>
          <a:p>
            <a:r>
              <a:rPr lang="en-US" dirty="0" smtClean="0"/>
              <a:t>Measured local Lapse Rate: 6.8 °C/km</a:t>
            </a:r>
          </a:p>
          <a:p>
            <a:r>
              <a:rPr lang="en-US" dirty="0" smtClean="0"/>
              <a:t>Icefield wide average (for July</a:t>
            </a:r>
            <a:r>
              <a:rPr lang="en-US" dirty="0"/>
              <a:t>): </a:t>
            </a:r>
            <a:r>
              <a:rPr lang="en-US" dirty="0" smtClean="0"/>
              <a:t>5.2 °C/km</a:t>
            </a:r>
          </a:p>
          <a:p>
            <a:r>
              <a:rPr lang="en-US" dirty="0" smtClean="0"/>
              <a:t>What does this mean for the Matthes-Vaughn Lewis region? </a:t>
            </a:r>
            <a:endParaRPr lang="en-US" dirty="0"/>
          </a:p>
          <a:p>
            <a:endParaRPr lang="en-US" dirty="0"/>
          </a:p>
        </p:txBody>
      </p:sp>
      <p:sp>
        <p:nvSpPr>
          <p:cNvPr id="9" name="Left Brace 8"/>
          <p:cNvSpPr/>
          <p:nvPr/>
        </p:nvSpPr>
        <p:spPr>
          <a:xfrm rot="16200000">
            <a:off x="2085586" y="2736938"/>
            <a:ext cx="237993" cy="651352"/>
          </a:xfrm>
          <a:prstGeom prst="leftBrace">
            <a:avLst>
              <a:gd name="adj1" fmla="val 8333"/>
              <a:gd name="adj2" fmla="val 5447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004169" y="3175348"/>
            <a:ext cx="45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C8</a:t>
            </a:r>
            <a:endParaRPr lang="en-US" b="1" dirty="0"/>
          </a:p>
        </p:txBody>
      </p:sp>
      <p:sp>
        <p:nvSpPr>
          <p:cNvPr id="10" name="Left Brace 9"/>
          <p:cNvSpPr/>
          <p:nvPr/>
        </p:nvSpPr>
        <p:spPr>
          <a:xfrm rot="5400000">
            <a:off x="4709320" y="2404347"/>
            <a:ext cx="350729" cy="1929939"/>
          </a:xfrm>
          <a:prstGeom prst="leftBrace">
            <a:avLst>
              <a:gd name="adj1" fmla="val 8333"/>
              <a:gd name="adj2" fmla="val 5447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112603" y="2877948"/>
            <a:ext cx="154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Heather Camp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2390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Icefield Findings: Lapse Rate over Year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2790" y="2005467"/>
            <a:ext cx="8287379" cy="4240202"/>
          </a:xfrm>
        </p:spPr>
      </p:pic>
    </p:spTree>
    <p:extLst>
      <p:ext uri="{BB962C8B-B14F-4D97-AF65-F5344CB8AC3E}">
        <p14:creationId xmlns:p14="http://schemas.microsoft.com/office/powerpoint/2010/main" val="211098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Icefield Findings: 0°C-Isotherm over Year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 rot="5400000">
            <a:off x="8329472" y="3884108"/>
            <a:ext cx="149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Elevation (m)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27" y="2217463"/>
            <a:ext cx="4938712" cy="3702622"/>
          </a:xfrm>
        </p:spPr>
      </p:pic>
    </p:spTree>
    <p:extLst>
      <p:ext uri="{BB962C8B-B14F-4D97-AF65-F5344CB8AC3E}">
        <p14:creationId xmlns:p14="http://schemas.microsoft.com/office/powerpoint/2010/main" val="64818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care? What next?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5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care? What next?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624215" y="359428"/>
            <a:ext cx="8943583" cy="419621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52679" y="1118709"/>
            <a:ext cx="72024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 smtClean="0">
                <a:solidFill>
                  <a:schemeClr val="bg2"/>
                </a:solidFill>
              </a:rPr>
              <a:t>Plateau Icefield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>
                <a:solidFill>
                  <a:schemeClr val="bg2"/>
                </a:solidFill>
              </a:rPr>
              <a:t>Downstream Impacts: watersheds, fisheries, and wildlife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>
                <a:solidFill>
                  <a:schemeClr val="bg2"/>
                </a:solidFill>
              </a:rPr>
              <a:t>Future Study/Improvements: higher resolution data, mass balance data, positive degree days, sensor limitations</a:t>
            </a:r>
            <a:endParaRPr 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44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We thank Eric </a:t>
            </a:r>
            <a:r>
              <a:rPr lang="en-US" dirty="0" err="1" smtClean="0"/>
              <a:t>Steig</a:t>
            </a:r>
            <a:r>
              <a:rPr lang="en-US" dirty="0" smtClean="0"/>
              <a:t> and the Ben Rabinowitz Endowment for purchasing the </a:t>
            </a:r>
            <a:r>
              <a:rPr lang="en-US" dirty="0" err="1" smtClean="0"/>
              <a:t>iButton</a:t>
            </a:r>
            <a:r>
              <a:rPr lang="en-US" dirty="0" smtClean="0"/>
              <a:t> sensors.</a:t>
            </a:r>
          </a:p>
          <a:p>
            <a:r>
              <a:rPr lang="en-US" dirty="0" smtClean="0"/>
              <a:t>Also Isaac and Jess for their support and waffles! </a:t>
            </a:r>
            <a:endParaRPr lang="en-US" dirty="0"/>
          </a:p>
        </p:txBody>
      </p:sp>
      <p:pic>
        <p:nvPicPr>
          <p:cNvPr id="15" name="Picture Placeholder 14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80"/>
          <a:stretch/>
        </p:blipFill>
        <p:spPr>
          <a:xfrm>
            <a:off x="15" y="0"/>
            <a:ext cx="12191985" cy="4909625"/>
          </a:xfrm>
        </p:spPr>
      </p:pic>
    </p:spTree>
    <p:extLst>
      <p:ext uri="{BB962C8B-B14F-4D97-AF65-F5344CB8AC3E}">
        <p14:creationId xmlns:p14="http://schemas.microsoft.com/office/powerpoint/2010/main" val="350034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1816</TotalTime>
  <Words>180</Words>
  <Application>Microsoft Macintosh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Cambria Math</vt:lpstr>
      <vt:lpstr>Retrospect</vt:lpstr>
      <vt:lpstr>JIF Vulnerability and Lapse Rates</vt:lpstr>
      <vt:lpstr>What’s a Lapse Rate?</vt:lpstr>
      <vt:lpstr>Data Collection:</vt:lpstr>
      <vt:lpstr>Our Findings:</vt:lpstr>
      <vt:lpstr>Icefield Findings: Lapse Rate over Year</vt:lpstr>
      <vt:lpstr>Icefield Findings: 0°C-Isotherm over Year</vt:lpstr>
      <vt:lpstr>Why care? What next?</vt:lpstr>
      <vt:lpstr>Why care? What next?</vt:lpstr>
      <vt:lpstr>Acknowledgements</vt:lpstr>
    </vt:vector>
  </TitlesOfParts>
  <Company>Windows User</Company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JIF Lapse Rate</dc:title>
  <dc:creator>JIRP</dc:creator>
  <cp:lastModifiedBy>badgeley</cp:lastModifiedBy>
  <cp:revision>33</cp:revision>
  <dcterms:created xsi:type="dcterms:W3CDTF">2022-07-24T20:19:32Z</dcterms:created>
  <dcterms:modified xsi:type="dcterms:W3CDTF">2022-08-01T18:54:17Z</dcterms:modified>
</cp:coreProperties>
</file>